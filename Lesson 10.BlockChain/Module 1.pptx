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599"/>
            <a:ext cx="11033481" cy="1126283"/>
          </a:xfrm>
        </p:spPr>
        <p:txBody>
          <a:bodyPr>
            <a:normAutofit fontScale="90000"/>
          </a:bodyPr>
          <a:lstStyle/>
          <a:p>
            <a:r>
              <a:rPr lang="uk-UA" sz="3600" dirty="0"/>
              <a:t>Модуль 1. </a:t>
            </a:r>
            <a:r>
              <a:rPr lang="en-US" sz="3600" dirty="0"/>
              <a:t>Web 3.0: </a:t>
            </a:r>
            <a:r>
              <a:rPr lang="uk-UA" sz="3600" dirty="0"/>
              <a:t>Фундаментальні концепції, філософія, ідеологія, архітектура</a:t>
            </a:r>
            <a:endParaRPr lang="LID4096" sz="36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453" y="1184883"/>
            <a:ext cx="10095723" cy="5614518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</a:rPr>
              <a:t>Web 3.0: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Фундаментальні концепції та будівельні блоки </a:t>
            </a:r>
            <a:r>
              <a:rPr lang="en-US" dirty="0">
                <a:solidFill>
                  <a:schemeClr val="tx1"/>
                </a:solidFill>
              </a:rPr>
              <a:t>Web 3.0;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Філософія </a:t>
            </a:r>
            <a:r>
              <a:rPr lang="en-US" dirty="0">
                <a:solidFill>
                  <a:schemeClr val="tx1"/>
                </a:solidFill>
              </a:rPr>
              <a:t>Web 3.0;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Ідеологія </a:t>
            </a:r>
            <a:r>
              <a:rPr lang="en-US" dirty="0">
                <a:solidFill>
                  <a:schemeClr val="tx1"/>
                </a:solidFill>
              </a:rPr>
              <a:t>Web 3.0;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Архітектура </a:t>
            </a:r>
            <a:r>
              <a:rPr lang="en-US" dirty="0">
                <a:solidFill>
                  <a:schemeClr val="tx1"/>
                </a:solidFill>
              </a:rPr>
              <a:t>Web 3.0;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 err="1">
                <a:solidFill>
                  <a:schemeClr val="tx1"/>
                </a:solidFill>
              </a:rPr>
              <a:t>Патерни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Web 3.0.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b="1" dirty="0">
                <a:solidFill>
                  <a:schemeClr val="tx1"/>
                </a:solidFill>
              </a:rPr>
              <a:t>Будівельні блоки </a:t>
            </a:r>
            <a:r>
              <a:rPr lang="en-US" sz="1600" b="1" dirty="0">
                <a:solidFill>
                  <a:schemeClr val="tx1"/>
                </a:solidFill>
              </a:rPr>
              <a:t>Web 3.0: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Децентралізація;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 err="1">
                <a:solidFill>
                  <a:schemeClr val="tx1"/>
                </a:solidFill>
              </a:rPr>
              <a:t>Блокчейн</a:t>
            </a:r>
            <a:r>
              <a:rPr lang="uk-UA" dirty="0">
                <a:solidFill>
                  <a:schemeClr val="tx1"/>
                </a:solidFill>
              </a:rPr>
              <a:t>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 err="1">
                <a:solidFill>
                  <a:schemeClr val="tx1"/>
                </a:solidFill>
              </a:rPr>
              <a:t>Криптовалюта</a:t>
            </a:r>
            <a:r>
              <a:rPr lang="uk-UA" dirty="0">
                <a:solidFill>
                  <a:schemeClr val="tx1"/>
                </a:solidFill>
              </a:rPr>
              <a:t>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NFT;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DeFi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dApp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DAO.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b="1" dirty="0" err="1">
                <a:solidFill>
                  <a:schemeClr val="tx1"/>
                </a:solidFill>
              </a:rPr>
              <a:t>Криптовалюта</a:t>
            </a:r>
            <a:r>
              <a:rPr lang="uk-UA" sz="1600" b="1" dirty="0">
                <a:solidFill>
                  <a:schemeClr val="tx1"/>
                </a:solidFill>
              </a:rPr>
              <a:t>: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Види </a:t>
            </a:r>
            <a:r>
              <a:rPr lang="uk-UA" dirty="0" err="1">
                <a:solidFill>
                  <a:schemeClr val="tx1"/>
                </a:solidFill>
              </a:rPr>
              <a:t>криптовалют</a:t>
            </a:r>
            <a:r>
              <a:rPr lang="uk-UA" dirty="0">
                <a:solidFill>
                  <a:schemeClr val="tx1"/>
                </a:solidFill>
              </a:rPr>
              <a:t>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Найкращі практики для роботи з </a:t>
            </a:r>
            <a:r>
              <a:rPr lang="uk-UA" dirty="0" err="1">
                <a:solidFill>
                  <a:schemeClr val="tx1"/>
                </a:solidFill>
              </a:rPr>
              <a:t>криптовалютою</a:t>
            </a:r>
            <a:r>
              <a:rPr lang="uk-UA" dirty="0">
                <a:solidFill>
                  <a:schemeClr val="tx1"/>
                </a:solidFill>
              </a:rPr>
              <a:t>;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uk-UA" dirty="0">
                <a:solidFill>
                  <a:schemeClr val="tx1"/>
                </a:solidFill>
              </a:rPr>
              <a:t>Типові помилки під час роботи з  </a:t>
            </a:r>
            <a:r>
              <a:rPr lang="uk-UA" dirty="0" err="1">
                <a:solidFill>
                  <a:schemeClr val="tx1"/>
                </a:solidFill>
              </a:rPr>
              <a:t>криптовалютою</a:t>
            </a:r>
            <a:r>
              <a:rPr lang="uk-UA" dirty="0">
                <a:solidFill>
                  <a:schemeClr val="tx1"/>
                </a:solidFill>
              </a:rPr>
              <a:t>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3269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1.1.Фундаментальні концепції та будівельні блоки </a:t>
            </a:r>
            <a:r>
              <a:rPr lang="en-US" sz="2800" b="1" dirty="0"/>
              <a:t>Web 3.0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453" y="1184883"/>
            <a:ext cx="10095723" cy="5614518"/>
          </a:xfrm>
        </p:spPr>
        <p:txBody>
          <a:bodyPr>
            <a:normAutofit/>
          </a:bodyPr>
          <a:lstStyle/>
          <a:p>
            <a:r>
              <a:rPr lang="ru-RU" dirty="0" err="1">
                <a:solidFill>
                  <a:schemeClr val="tx1"/>
                </a:solidFill>
              </a:rPr>
              <a:t>Web</a:t>
            </a:r>
            <a:r>
              <a:rPr lang="ru-RU" dirty="0">
                <a:solidFill>
                  <a:schemeClr val="tx1"/>
                </a:solidFill>
              </a:rPr>
              <a:t> 3.0 —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нова парадигма </a:t>
            </a:r>
            <a:r>
              <a:rPr lang="ru-RU" dirty="0" err="1">
                <a:solidFill>
                  <a:schemeClr val="tx1"/>
                </a:solidFill>
              </a:rPr>
              <a:t>розвитку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Інтернету</a:t>
            </a:r>
            <a:r>
              <a:rPr lang="ru-RU" dirty="0">
                <a:solidFill>
                  <a:schemeClr val="tx1"/>
                </a:solidFill>
              </a:rPr>
              <a:t>, яка </a:t>
            </a:r>
            <a:r>
              <a:rPr lang="ru-RU" dirty="0" err="1">
                <a:solidFill>
                  <a:schemeClr val="tx1"/>
                </a:solidFill>
              </a:rPr>
              <a:t>прагне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створити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децентралізовану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безпечну</a:t>
            </a:r>
            <a:r>
              <a:rPr lang="ru-RU" b="1" dirty="0">
                <a:solidFill>
                  <a:schemeClr val="tx1"/>
                </a:solidFill>
              </a:rPr>
              <a:t> та </a:t>
            </a:r>
            <a:r>
              <a:rPr lang="ru-RU" b="1" dirty="0" err="1">
                <a:solidFill>
                  <a:schemeClr val="tx1"/>
                </a:solidFill>
              </a:rPr>
              <a:t>розумну</a:t>
            </a:r>
            <a:r>
              <a:rPr lang="ru-RU" b="1" dirty="0">
                <a:solidFill>
                  <a:schemeClr val="tx1"/>
                </a:solidFill>
              </a:rPr>
              <a:t> мережу</a:t>
            </a:r>
            <a:r>
              <a:rPr lang="ru-RU" dirty="0">
                <a:solidFill>
                  <a:schemeClr val="tx1"/>
                </a:solidFill>
              </a:rPr>
              <a:t>, де </a:t>
            </a:r>
            <a:r>
              <a:rPr lang="ru-RU" dirty="0" err="1">
                <a:solidFill>
                  <a:schemeClr val="tx1"/>
                </a:solidFill>
              </a:rPr>
              <a:t>користувачі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володіють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своїми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даними</a:t>
            </a:r>
            <a:r>
              <a:rPr lang="ru-RU" dirty="0">
                <a:solidFill>
                  <a:schemeClr val="tx1"/>
                </a:solidFill>
              </a:rPr>
              <a:t>. </a:t>
            </a:r>
            <a:r>
              <a:rPr lang="uk-UA" b="1" dirty="0">
                <a:solidFill>
                  <a:schemeClr val="tx1"/>
                </a:solidFill>
              </a:rPr>
              <a:t>Будівельні блоки </a:t>
            </a:r>
            <a:r>
              <a:rPr lang="en-US" b="1" dirty="0">
                <a:solidFill>
                  <a:schemeClr val="tx1"/>
                </a:solidFill>
              </a:rPr>
              <a:t>Web 3.0:</a:t>
            </a:r>
          </a:p>
          <a:p>
            <a:r>
              <a:rPr lang="uk-UA" b="1" dirty="0">
                <a:solidFill>
                  <a:schemeClr val="tx1"/>
                </a:solidFill>
              </a:rPr>
              <a:t>Децентралізація</a:t>
            </a:r>
            <a:r>
              <a:rPr lang="uk-UA" dirty="0">
                <a:solidFill>
                  <a:schemeClr val="tx1"/>
                </a:solidFill>
              </a:rPr>
              <a:t>: Замість централізованих серверів — </a:t>
            </a:r>
            <a:r>
              <a:rPr lang="uk-UA" dirty="0" err="1">
                <a:solidFill>
                  <a:schemeClr val="tx1"/>
                </a:solidFill>
              </a:rPr>
              <a:t>блокчейни</a:t>
            </a:r>
            <a:r>
              <a:rPr lang="uk-UA" dirty="0">
                <a:solidFill>
                  <a:schemeClr val="tx1"/>
                </a:solidFill>
              </a:rPr>
              <a:t> та децентралізовані мережі (наприклад, </a:t>
            </a:r>
            <a:r>
              <a:rPr lang="en-US" dirty="0">
                <a:solidFill>
                  <a:schemeClr val="tx1"/>
                </a:solidFill>
              </a:rPr>
              <a:t>Ethereum, IPFS).</a:t>
            </a:r>
            <a:endParaRPr lang="uk-UA" dirty="0">
              <a:solidFill>
                <a:schemeClr val="tx1"/>
              </a:solidFill>
            </a:endParaRPr>
          </a:p>
          <a:p>
            <a:r>
              <a:rPr lang="uk-UA" b="1" dirty="0">
                <a:solidFill>
                  <a:schemeClr val="tx1"/>
                </a:solidFill>
              </a:rPr>
              <a:t>Власність над даними</a:t>
            </a:r>
            <a:r>
              <a:rPr lang="uk-UA" dirty="0">
                <a:solidFill>
                  <a:schemeClr val="tx1"/>
                </a:solidFill>
              </a:rPr>
              <a:t>: Користувачі контролюють власні дані через криптографічні ключі.</a:t>
            </a:r>
          </a:p>
          <a:p>
            <a:r>
              <a:rPr lang="uk-UA" b="1" dirty="0">
                <a:solidFill>
                  <a:schemeClr val="tx1"/>
                </a:solidFill>
              </a:rPr>
              <a:t>Розумні контракти </a:t>
            </a:r>
            <a:r>
              <a:rPr lang="uk-UA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Smart Contracts): </a:t>
            </a:r>
            <a:r>
              <a:rPr lang="uk-UA" dirty="0">
                <a:solidFill>
                  <a:schemeClr val="tx1"/>
                </a:solidFill>
              </a:rPr>
              <a:t>Програмовані правила, що автоматично виконуються у </a:t>
            </a:r>
            <a:r>
              <a:rPr lang="uk-UA" dirty="0" err="1">
                <a:solidFill>
                  <a:schemeClr val="tx1"/>
                </a:solidFill>
              </a:rPr>
              <a:t>блокчейні</a:t>
            </a:r>
            <a:r>
              <a:rPr lang="uk-UA" dirty="0">
                <a:solidFill>
                  <a:schemeClr val="tx1"/>
                </a:solidFill>
              </a:rPr>
              <a:t>.</a:t>
            </a:r>
          </a:p>
          <a:p>
            <a:r>
              <a:rPr lang="uk-UA" b="1" dirty="0" err="1">
                <a:solidFill>
                  <a:schemeClr val="tx1"/>
                </a:solidFill>
              </a:rPr>
              <a:t>Токенізація</a:t>
            </a:r>
            <a:r>
              <a:rPr lang="uk-UA" dirty="0">
                <a:solidFill>
                  <a:schemeClr val="tx1"/>
                </a:solidFill>
              </a:rPr>
              <a:t>: Використання </a:t>
            </a:r>
            <a:r>
              <a:rPr lang="uk-UA" dirty="0" err="1">
                <a:solidFill>
                  <a:schemeClr val="tx1"/>
                </a:solidFill>
              </a:rPr>
              <a:t>криптовалют</a:t>
            </a:r>
            <a:r>
              <a:rPr lang="uk-UA" dirty="0">
                <a:solidFill>
                  <a:schemeClr val="tx1"/>
                </a:solidFill>
              </a:rPr>
              <a:t> і </a:t>
            </a:r>
            <a:r>
              <a:rPr lang="en-US" dirty="0">
                <a:solidFill>
                  <a:schemeClr val="tx1"/>
                </a:solidFill>
              </a:rPr>
              <a:t>NFT </a:t>
            </a:r>
            <a:r>
              <a:rPr lang="uk-UA" dirty="0">
                <a:solidFill>
                  <a:schemeClr val="tx1"/>
                </a:solidFill>
              </a:rPr>
              <a:t>для передачі вартості та прав власності.</a:t>
            </a:r>
          </a:p>
          <a:p>
            <a:r>
              <a:rPr lang="uk-UA" b="1" dirty="0">
                <a:solidFill>
                  <a:schemeClr val="tx1"/>
                </a:solidFill>
              </a:rPr>
              <a:t>Семантична мережа</a:t>
            </a:r>
            <a:r>
              <a:rPr lang="uk-UA" dirty="0">
                <a:solidFill>
                  <a:schemeClr val="tx1"/>
                </a:solidFill>
              </a:rPr>
              <a:t>: Дані пов’язані змістовно, не лише структурно, що дозволяє машинам "розуміти" інформацію.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61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1.2. Філософія </a:t>
            </a:r>
            <a:r>
              <a:rPr lang="en-US" sz="2800" b="1" dirty="0"/>
              <a:t>Web 3.0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453" y="1184883"/>
            <a:ext cx="10095723" cy="5614518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chemeClr val="tx1"/>
                </a:solidFill>
              </a:rPr>
              <a:t>Свобода від централізації</a:t>
            </a:r>
            <a:r>
              <a:rPr lang="uk-UA" dirty="0">
                <a:solidFill>
                  <a:schemeClr val="tx1"/>
                </a:solidFill>
              </a:rPr>
              <a:t>: Мінімізація контролю великих корпорацій (</a:t>
            </a:r>
            <a:r>
              <a:rPr lang="en-US" dirty="0">
                <a:solidFill>
                  <a:schemeClr val="tx1"/>
                </a:solidFill>
              </a:rPr>
              <a:t>Big Tech).</a:t>
            </a:r>
            <a:endParaRPr lang="uk-UA" dirty="0">
              <a:solidFill>
                <a:schemeClr val="tx1"/>
              </a:solidFill>
            </a:endParaRPr>
          </a:p>
          <a:p>
            <a:r>
              <a:rPr lang="uk-UA" b="1" dirty="0">
                <a:solidFill>
                  <a:schemeClr val="tx1"/>
                </a:solidFill>
              </a:rPr>
              <a:t>Прозорість</a:t>
            </a:r>
            <a:r>
              <a:rPr lang="uk-UA" dirty="0">
                <a:solidFill>
                  <a:schemeClr val="tx1"/>
                </a:solidFill>
              </a:rPr>
              <a:t>: Код смарт-контрактів та </a:t>
            </a:r>
            <a:r>
              <a:rPr lang="uk-UA" dirty="0" err="1">
                <a:solidFill>
                  <a:schemeClr val="tx1"/>
                </a:solidFill>
              </a:rPr>
              <a:t>блокчейни</a:t>
            </a:r>
            <a:r>
              <a:rPr lang="uk-UA" dirty="0">
                <a:solidFill>
                  <a:schemeClr val="tx1"/>
                </a:solidFill>
              </a:rPr>
              <a:t> відкриті й публічні.</a:t>
            </a:r>
          </a:p>
          <a:p>
            <a:r>
              <a:rPr lang="uk-UA" b="1" dirty="0">
                <a:solidFill>
                  <a:schemeClr val="tx1"/>
                </a:solidFill>
              </a:rPr>
              <a:t>Власність</a:t>
            </a:r>
            <a:r>
              <a:rPr lang="uk-UA" dirty="0">
                <a:solidFill>
                  <a:schemeClr val="tx1"/>
                </a:solidFill>
              </a:rPr>
              <a:t>: Користувач володіє своїми цифровими активами й профілем.</a:t>
            </a:r>
          </a:p>
          <a:p>
            <a:r>
              <a:rPr lang="uk-UA" b="1" dirty="0" err="1">
                <a:solidFill>
                  <a:schemeClr val="tx1"/>
                </a:solidFill>
              </a:rPr>
              <a:t>Інклюзивність</a:t>
            </a:r>
            <a:r>
              <a:rPr lang="uk-UA" dirty="0">
                <a:solidFill>
                  <a:schemeClr val="tx1"/>
                </a:solidFill>
              </a:rPr>
              <a:t>: Доступ до фінансових, соціальних та інформаційних сервісів без посередників.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032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1.3. Ідеологія </a:t>
            </a:r>
            <a:r>
              <a:rPr lang="en-US" sz="2800" b="1" dirty="0"/>
              <a:t>Web 3.0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2899" y="1184883"/>
            <a:ext cx="10478278" cy="5614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"</a:t>
            </a:r>
            <a:r>
              <a:rPr lang="en-US" b="1" dirty="0">
                <a:solidFill>
                  <a:schemeClr val="tx1"/>
                </a:solidFill>
              </a:rPr>
              <a:t>Own your data</a:t>
            </a:r>
            <a:r>
              <a:rPr lang="en-US" dirty="0">
                <a:solidFill>
                  <a:schemeClr val="tx1"/>
                </a:solidFill>
              </a:rPr>
              <a:t>": </a:t>
            </a:r>
            <a:r>
              <a:rPr lang="uk-UA" dirty="0">
                <a:solidFill>
                  <a:schemeClr val="tx1"/>
                </a:solidFill>
              </a:rPr>
              <a:t>Кожна дія в мережі залишається за користувачем, а не компанією.</a:t>
            </a:r>
          </a:p>
          <a:p>
            <a:r>
              <a:rPr lang="uk-UA" dirty="0">
                <a:solidFill>
                  <a:schemeClr val="tx1"/>
                </a:solidFill>
              </a:rPr>
              <a:t>"</a:t>
            </a:r>
            <a:r>
              <a:rPr lang="en-US" b="1" dirty="0">
                <a:solidFill>
                  <a:schemeClr val="tx1"/>
                </a:solidFill>
              </a:rPr>
              <a:t>Trustless</a:t>
            </a:r>
            <a:r>
              <a:rPr lang="en-US" dirty="0">
                <a:solidFill>
                  <a:schemeClr val="tx1"/>
                </a:solidFill>
              </a:rPr>
              <a:t>": </a:t>
            </a:r>
            <a:r>
              <a:rPr lang="uk-UA" dirty="0">
                <a:solidFill>
                  <a:schemeClr val="tx1"/>
                </a:solidFill>
              </a:rPr>
              <a:t>Не потрібно довіряти — усе підтверджується математично (криптографією).</a:t>
            </a:r>
          </a:p>
          <a:p>
            <a:r>
              <a:rPr lang="uk-UA" dirty="0">
                <a:solidFill>
                  <a:schemeClr val="tx1"/>
                </a:solidFill>
              </a:rPr>
              <a:t>"</a:t>
            </a:r>
            <a:r>
              <a:rPr lang="en-US" b="1" dirty="0" err="1">
                <a:solidFill>
                  <a:schemeClr val="tx1"/>
                </a:solidFill>
              </a:rPr>
              <a:t>Permissionless</a:t>
            </a:r>
            <a:r>
              <a:rPr lang="en-US" dirty="0">
                <a:solidFill>
                  <a:schemeClr val="tx1"/>
                </a:solidFill>
              </a:rPr>
              <a:t>": </a:t>
            </a:r>
            <a:r>
              <a:rPr lang="uk-UA" dirty="0">
                <a:solidFill>
                  <a:schemeClr val="tx1"/>
                </a:solidFill>
              </a:rPr>
              <a:t>Участь у мережі не потребує дозволу чи цензури.</a:t>
            </a:r>
          </a:p>
          <a:p>
            <a:r>
              <a:rPr lang="uk-UA" dirty="0">
                <a:solidFill>
                  <a:schemeClr val="tx1"/>
                </a:solidFill>
              </a:rPr>
              <a:t>"</a:t>
            </a:r>
            <a:r>
              <a:rPr lang="en-US" b="1" dirty="0">
                <a:solidFill>
                  <a:schemeClr val="tx1"/>
                </a:solidFill>
              </a:rPr>
              <a:t>Interoperability</a:t>
            </a:r>
            <a:r>
              <a:rPr lang="en-US" dirty="0">
                <a:solidFill>
                  <a:schemeClr val="tx1"/>
                </a:solidFill>
              </a:rPr>
              <a:t>": </a:t>
            </a:r>
            <a:r>
              <a:rPr lang="uk-UA" dirty="0">
                <a:solidFill>
                  <a:schemeClr val="tx1"/>
                </a:solidFill>
              </a:rPr>
              <a:t>Різні сервіси та </a:t>
            </a:r>
            <a:r>
              <a:rPr lang="uk-UA" dirty="0" err="1">
                <a:solidFill>
                  <a:schemeClr val="tx1"/>
                </a:solidFill>
              </a:rPr>
              <a:t>блокчейни</a:t>
            </a:r>
            <a:r>
              <a:rPr lang="uk-UA" dirty="0">
                <a:solidFill>
                  <a:schemeClr val="tx1"/>
                </a:solidFill>
              </a:rPr>
              <a:t> повинні бути сумісні між собою.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46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1.4. Архітектура </a:t>
            </a:r>
            <a:r>
              <a:rPr lang="en-US" sz="2800" b="1" dirty="0"/>
              <a:t>Web 3.0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6081" y="886408"/>
            <a:ext cx="9965095" cy="5912993"/>
          </a:xfrm>
        </p:spPr>
        <p:txBody>
          <a:bodyPr>
            <a:normAutofit lnSpcReduction="10000"/>
          </a:bodyPr>
          <a:lstStyle/>
          <a:p>
            <a:r>
              <a:rPr lang="uk-UA" dirty="0">
                <a:solidFill>
                  <a:schemeClr val="tx1"/>
                </a:solidFill>
              </a:rPr>
              <a:t>1. Інфраструктурний рівень:</a:t>
            </a: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 err="1">
                <a:solidFill>
                  <a:schemeClr val="tx1"/>
                </a:solidFill>
              </a:rPr>
              <a:t>Блокчейни</a:t>
            </a:r>
            <a:r>
              <a:rPr lang="uk-UA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</a:rPr>
              <a:t>Ethereum, </a:t>
            </a:r>
            <a:r>
              <a:rPr lang="en-US" dirty="0" err="1">
                <a:solidFill>
                  <a:schemeClr val="tx1"/>
                </a:solidFill>
              </a:rPr>
              <a:t>Polkadot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P2P-</a:t>
            </a:r>
            <a:r>
              <a:rPr lang="uk-UA" dirty="0">
                <a:solidFill>
                  <a:schemeClr val="tx1"/>
                </a:solidFill>
              </a:rPr>
              <a:t>з'єднання (</a:t>
            </a:r>
            <a:r>
              <a:rPr lang="en-US" dirty="0">
                <a:solidFill>
                  <a:schemeClr val="tx1"/>
                </a:solidFill>
              </a:rPr>
              <a:t>libp2p, Whisper)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Зберігання (</a:t>
            </a:r>
            <a:r>
              <a:rPr lang="en-US" dirty="0">
                <a:solidFill>
                  <a:schemeClr val="tx1"/>
                </a:solidFill>
              </a:rPr>
              <a:t>IPFS, </a:t>
            </a:r>
            <a:r>
              <a:rPr lang="en-US" dirty="0" err="1">
                <a:solidFill>
                  <a:schemeClr val="tx1"/>
                </a:solidFill>
              </a:rPr>
              <a:t>Arweave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uk-UA" dirty="0">
              <a:solidFill>
                <a:schemeClr val="tx1"/>
              </a:solidFill>
            </a:endParaRPr>
          </a:p>
          <a:p>
            <a:r>
              <a:rPr lang="uk-UA" dirty="0">
                <a:solidFill>
                  <a:schemeClr val="tx1"/>
                </a:solidFill>
              </a:rPr>
              <a:t>2. Протокольний рівень:</a:t>
            </a: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Протоколи </a:t>
            </a:r>
            <a:r>
              <a:rPr lang="en-US" dirty="0" err="1">
                <a:solidFill>
                  <a:schemeClr val="tx1"/>
                </a:solidFill>
              </a:rPr>
              <a:t>DeFi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Uniswap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Aave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Ідентичність (</a:t>
            </a:r>
            <a:r>
              <a:rPr lang="en-US" dirty="0">
                <a:solidFill>
                  <a:schemeClr val="tx1"/>
                </a:solidFill>
              </a:rPr>
              <a:t>Ceramic, </a:t>
            </a:r>
            <a:r>
              <a:rPr lang="en-US" dirty="0" err="1">
                <a:solidFill>
                  <a:schemeClr val="tx1"/>
                </a:solidFill>
              </a:rPr>
              <a:t>SelfID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DAO </a:t>
            </a:r>
            <a:r>
              <a:rPr lang="uk-UA" dirty="0">
                <a:solidFill>
                  <a:schemeClr val="tx1"/>
                </a:solidFill>
              </a:rPr>
              <a:t>платформи</a:t>
            </a:r>
          </a:p>
          <a:p>
            <a:r>
              <a:rPr lang="uk-UA" dirty="0">
                <a:solidFill>
                  <a:schemeClr val="tx1"/>
                </a:solidFill>
              </a:rPr>
              <a:t>3. Сервісний рівень:</a:t>
            </a: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API, SDK </a:t>
            </a:r>
            <a:r>
              <a:rPr lang="uk-UA" dirty="0">
                <a:solidFill>
                  <a:schemeClr val="tx1"/>
                </a:solidFill>
              </a:rPr>
              <a:t>для розробки </a:t>
            </a:r>
            <a:r>
              <a:rPr lang="en-US" dirty="0" err="1">
                <a:solidFill>
                  <a:schemeClr val="tx1"/>
                </a:solidFill>
              </a:rPr>
              <a:t>dApp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Оракули (</a:t>
            </a:r>
            <a:r>
              <a:rPr lang="en-US" dirty="0" err="1">
                <a:solidFill>
                  <a:schemeClr val="tx1"/>
                </a:solidFill>
              </a:rPr>
              <a:t>Chainlink</a:t>
            </a:r>
            <a:r>
              <a:rPr lang="en-US" dirty="0">
                <a:solidFill>
                  <a:schemeClr val="tx1"/>
                </a:solidFill>
              </a:rPr>
              <a:t>, Band Protocol)</a:t>
            </a:r>
            <a:endParaRPr lang="uk-UA" dirty="0">
              <a:solidFill>
                <a:schemeClr val="tx1"/>
              </a:solidFill>
            </a:endParaRPr>
          </a:p>
          <a:p>
            <a:r>
              <a:rPr lang="uk-UA" dirty="0">
                <a:solidFill>
                  <a:schemeClr val="tx1"/>
                </a:solidFill>
              </a:rPr>
              <a:t>4. Додатки (</a:t>
            </a:r>
            <a:r>
              <a:rPr lang="en-US" dirty="0" err="1">
                <a:solidFill>
                  <a:schemeClr val="tx1"/>
                </a:solidFill>
              </a:rPr>
              <a:t>dApps</a:t>
            </a:r>
            <a:r>
              <a:rPr lang="en-US" dirty="0">
                <a:solidFill>
                  <a:schemeClr val="tx1"/>
                </a:solidFill>
              </a:rPr>
              <a:t>):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Гаманці (</a:t>
            </a:r>
            <a:r>
              <a:rPr lang="en-US" dirty="0" err="1">
                <a:solidFill>
                  <a:schemeClr val="tx1"/>
                </a:solidFill>
              </a:rPr>
              <a:t>MetaMask</a:t>
            </a:r>
            <a:r>
              <a:rPr lang="en-US" dirty="0">
                <a:solidFill>
                  <a:schemeClr val="tx1"/>
                </a:solidFill>
              </a:rPr>
              <a:t>, Trust Wallet)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NFT-</a:t>
            </a:r>
            <a:r>
              <a:rPr lang="uk-UA" dirty="0" err="1">
                <a:solidFill>
                  <a:schemeClr val="tx1"/>
                </a:solidFill>
              </a:rPr>
              <a:t>маркетплейси</a:t>
            </a:r>
            <a:r>
              <a:rPr lang="uk-UA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OpenSea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uk-UA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Соцмережі (</a:t>
            </a:r>
            <a:r>
              <a:rPr lang="en-US" dirty="0">
                <a:solidFill>
                  <a:schemeClr val="tx1"/>
                </a:solidFill>
              </a:rPr>
              <a:t>Lens Protocol)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30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1.5. </a:t>
            </a:r>
            <a:r>
              <a:rPr lang="uk-UA" sz="2800" b="1" dirty="0" err="1"/>
              <a:t>Патерни</a:t>
            </a:r>
            <a:r>
              <a:rPr lang="uk-UA" sz="2800" b="1" dirty="0"/>
              <a:t> </a:t>
            </a:r>
            <a:r>
              <a:rPr lang="en-US" sz="2800" b="1" dirty="0"/>
              <a:t>Web 3.0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6081" y="886408"/>
            <a:ext cx="9965095" cy="591299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b="1" dirty="0" err="1">
                <a:solidFill>
                  <a:schemeClr val="tx1"/>
                </a:solidFill>
              </a:rPr>
              <a:t>dApp</a:t>
            </a:r>
            <a:r>
              <a:rPr lang="en-US" b="1" dirty="0">
                <a:solidFill>
                  <a:schemeClr val="tx1"/>
                </a:solidFill>
              </a:rPr>
              <a:t> Pattern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uk-UA" dirty="0">
                <a:solidFill>
                  <a:schemeClr val="tx1"/>
                </a:solidFill>
              </a:rPr>
              <a:t>Клієнт на </a:t>
            </a:r>
            <a:r>
              <a:rPr lang="uk-UA" dirty="0" err="1">
                <a:solidFill>
                  <a:schemeClr val="tx1"/>
                </a:solidFill>
              </a:rPr>
              <a:t>фронтенді</a:t>
            </a:r>
            <a:r>
              <a:rPr lang="uk-UA" dirty="0">
                <a:solidFill>
                  <a:schemeClr val="tx1"/>
                </a:solidFill>
              </a:rPr>
              <a:t> + смарт-контракт на </a:t>
            </a:r>
            <a:r>
              <a:rPr lang="uk-UA" dirty="0" err="1">
                <a:solidFill>
                  <a:schemeClr val="tx1"/>
                </a:solidFill>
              </a:rPr>
              <a:t>бекенді</a:t>
            </a:r>
            <a:r>
              <a:rPr lang="uk-UA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Token Economy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uk-UA" dirty="0">
                <a:solidFill>
                  <a:schemeClr val="tx1"/>
                </a:solidFill>
              </a:rPr>
              <a:t>Моделі винагород (</a:t>
            </a:r>
            <a:r>
              <a:rPr lang="en-US" dirty="0">
                <a:solidFill>
                  <a:schemeClr val="tx1"/>
                </a:solidFill>
              </a:rPr>
              <a:t>utility token, governance token).</a:t>
            </a:r>
            <a:endParaRPr lang="uk-UA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DAO Governance Pattern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uk-UA" dirty="0">
                <a:solidFill>
                  <a:schemeClr val="tx1"/>
                </a:solidFill>
              </a:rPr>
              <a:t>Голосування токенами для управління спільнотою.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Self-Sovereign Identity (SSI)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uk-UA" dirty="0">
                <a:solidFill>
                  <a:schemeClr val="tx1"/>
                </a:solidFill>
              </a:rPr>
              <a:t>Користувач керує своїми цифровими документами.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Data Marketplace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uk-UA" dirty="0">
                <a:solidFill>
                  <a:schemeClr val="tx1"/>
                </a:solidFill>
              </a:rPr>
              <a:t>Обмін даними на умовах прозорих смарт-контрактів.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88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2.1. Децентралізація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chemeClr val="tx1"/>
                </a:solidFill>
              </a:rPr>
              <a:t>Децентралізація</a:t>
            </a:r>
            <a:r>
              <a:rPr lang="uk-UA" dirty="0">
                <a:solidFill>
                  <a:schemeClr val="tx1"/>
                </a:solidFill>
              </a:rPr>
              <a:t> означає розподіл влади, даних і контрольних функцій між великою кількістю учасників мережі замість централізованого органу (наприклад, корпорації чи уряду).</a:t>
            </a:r>
          </a:p>
          <a:p>
            <a:r>
              <a:rPr lang="uk-UA" b="1" dirty="0">
                <a:solidFill>
                  <a:schemeClr val="tx1"/>
                </a:solidFill>
              </a:rPr>
              <a:t>Ціль</a:t>
            </a:r>
            <a:r>
              <a:rPr lang="uk-UA" dirty="0">
                <a:solidFill>
                  <a:schemeClr val="tx1"/>
                </a:solidFill>
              </a:rPr>
              <a:t>: уникнути монополії, забезпечити прозорість і стійкість до цензури.</a:t>
            </a:r>
          </a:p>
          <a:p>
            <a:r>
              <a:rPr lang="uk-UA" b="1" dirty="0">
                <a:solidFill>
                  <a:schemeClr val="tx1"/>
                </a:solidFill>
              </a:rPr>
              <a:t>Технології</a:t>
            </a:r>
            <a:r>
              <a:rPr lang="uk-UA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peer-to-peer </a:t>
            </a:r>
            <a:r>
              <a:rPr lang="uk-UA" dirty="0">
                <a:solidFill>
                  <a:schemeClr val="tx1"/>
                </a:solidFill>
              </a:rPr>
              <a:t>мережі, </a:t>
            </a:r>
            <a:r>
              <a:rPr lang="uk-UA" dirty="0" err="1">
                <a:solidFill>
                  <a:schemeClr val="tx1"/>
                </a:solidFill>
              </a:rPr>
              <a:t>блокчейн</a:t>
            </a:r>
            <a:r>
              <a:rPr lang="uk-UA" dirty="0">
                <a:solidFill>
                  <a:schemeClr val="tx1"/>
                </a:solidFill>
              </a:rPr>
              <a:t>, децентралізоване зберігання (</a:t>
            </a:r>
            <a:r>
              <a:rPr lang="en-US" dirty="0">
                <a:solidFill>
                  <a:schemeClr val="tx1"/>
                </a:solidFill>
              </a:rPr>
              <a:t>IPFS, </a:t>
            </a:r>
            <a:r>
              <a:rPr lang="en-US" dirty="0" err="1">
                <a:solidFill>
                  <a:schemeClr val="tx1"/>
                </a:solidFill>
              </a:rPr>
              <a:t>Arweave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9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2.2. </a:t>
            </a:r>
            <a:r>
              <a:rPr lang="uk-UA" sz="2800" b="1" dirty="0" err="1"/>
              <a:t>Блокчейн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uk-UA" b="1" dirty="0" err="1">
                <a:solidFill>
                  <a:schemeClr val="tx1"/>
                </a:solidFill>
              </a:rPr>
              <a:t>Блокчейн</a:t>
            </a:r>
            <a:r>
              <a:rPr lang="uk-UA" dirty="0">
                <a:solidFill>
                  <a:schemeClr val="tx1"/>
                </a:solidFill>
              </a:rPr>
              <a:t> — це децентралізований, незмінний цифровий реєстр, у якому записуються всі транзакції у вигляді блоків.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Властивості</a:t>
            </a:r>
            <a:r>
              <a:rPr lang="uk-UA" dirty="0">
                <a:solidFill>
                  <a:schemeClr val="tx1"/>
                </a:solidFill>
              </a:rPr>
              <a:t>: незмінність, прозорість, захист від фальсифікацій.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Використання</a:t>
            </a:r>
            <a:r>
              <a:rPr lang="uk-UA" dirty="0">
                <a:solidFill>
                  <a:schemeClr val="tx1"/>
                </a:solidFill>
              </a:rPr>
              <a:t>: зберігання транзакцій, смарт-контракти, історія дій у мережі.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Приклад</a:t>
            </a:r>
            <a:r>
              <a:rPr lang="uk-UA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Ethereum, Solana, Bitcoin.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6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2.3. </a:t>
            </a:r>
            <a:r>
              <a:rPr lang="uk-UA" sz="2800" b="1" dirty="0" err="1"/>
              <a:t>Криптовалюта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Криптовалюта </a:t>
            </a:r>
            <a:r>
              <a:rPr lang="ru-RU" dirty="0">
                <a:solidFill>
                  <a:schemeClr val="tx1"/>
                </a:solidFill>
              </a:rPr>
              <a:t>—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цифрова</a:t>
            </a:r>
            <a:r>
              <a:rPr lang="ru-RU" dirty="0">
                <a:solidFill>
                  <a:schemeClr val="tx1"/>
                </a:solidFill>
              </a:rPr>
              <a:t> валюта, створена на </a:t>
            </a:r>
            <a:r>
              <a:rPr lang="ru-RU" dirty="0" err="1">
                <a:solidFill>
                  <a:schemeClr val="tx1"/>
                </a:solidFill>
              </a:rPr>
              <a:t>основі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блокчейну</a:t>
            </a:r>
            <a:r>
              <a:rPr lang="ru-RU" dirty="0">
                <a:solidFill>
                  <a:schemeClr val="tx1"/>
                </a:solidFill>
              </a:rPr>
              <a:t>. Вона </a:t>
            </a:r>
            <a:r>
              <a:rPr lang="ru-RU" dirty="0" err="1">
                <a:solidFill>
                  <a:schemeClr val="tx1"/>
                </a:solidFill>
              </a:rPr>
              <a:t>виконує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функції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обміну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зберігання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вартості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або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управління</a:t>
            </a:r>
            <a:r>
              <a:rPr lang="ru-RU" b="1" dirty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Типи: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Utility </a:t>
            </a:r>
            <a:r>
              <a:rPr lang="uk-UA" dirty="0">
                <a:solidFill>
                  <a:schemeClr val="tx1"/>
                </a:solidFill>
              </a:rPr>
              <a:t>токени (напр., </a:t>
            </a:r>
            <a:r>
              <a:rPr lang="en-US" dirty="0">
                <a:solidFill>
                  <a:schemeClr val="tx1"/>
                </a:solidFill>
              </a:rPr>
              <a:t>ETH </a:t>
            </a:r>
            <a:r>
              <a:rPr lang="uk-UA" dirty="0">
                <a:solidFill>
                  <a:schemeClr val="tx1"/>
                </a:solidFill>
              </a:rPr>
              <a:t>для оплати газу на </a:t>
            </a:r>
            <a:r>
              <a:rPr lang="en-US" dirty="0">
                <a:solidFill>
                  <a:schemeClr val="tx1"/>
                </a:solidFill>
              </a:rPr>
              <a:t>Ethereum)</a:t>
            </a:r>
          </a:p>
          <a:p>
            <a:r>
              <a:rPr lang="en-US" dirty="0">
                <a:solidFill>
                  <a:schemeClr val="tx1"/>
                </a:solidFill>
              </a:rPr>
              <a:t>	Governance </a:t>
            </a:r>
            <a:r>
              <a:rPr lang="uk-UA" dirty="0">
                <a:solidFill>
                  <a:schemeClr val="tx1"/>
                </a:solidFill>
              </a:rPr>
              <a:t>токени (напр., </a:t>
            </a:r>
            <a:r>
              <a:rPr lang="en-US" dirty="0">
                <a:solidFill>
                  <a:schemeClr val="tx1"/>
                </a:solidFill>
              </a:rPr>
              <a:t>UNI </a:t>
            </a:r>
            <a:r>
              <a:rPr lang="uk-UA" dirty="0">
                <a:solidFill>
                  <a:schemeClr val="tx1"/>
                </a:solidFill>
              </a:rPr>
              <a:t>для голосування в </a:t>
            </a:r>
            <a:r>
              <a:rPr lang="en-US" dirty="0" err="1">
                <a:solidFill>
                  <a:schemeClr val="tx1"/>
                </a:solidFill>
              </a:rPr>
              <a:t>Uniswap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Роль: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uk-UA" dirty="0">
                <a:solidFill>
                  <a:schemeClr val="tx1"/>
                </a:solidFill>
              </a:rPr>
              <a:t>економічний стимул для підтримки мереж і додатків.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284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</a:t>
            </a:r>
            <a:r>
              <a:rPr lang="en-US" sz="2800" b="1" dirty="0"/>
              <a:t>4</a:t>
            </a:r>
            <a:r>
              <a:rPr lang="uk-UA" sz="2800" b="1" dirty="0"/>
              <a:t>. </a:t>
            </a:r>
            <a:r>
              <a:rPr lang="en-US" sz="2800" b="1" dirty="0"/>
              <a:t>NFT (Non-Fungible Token)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NFT</a:t>
            </a:r>
            <a:r>
              <a:rPr lang="ru-RU" dirty="0">
                <a:solidFill>
                  <a:schemeClr val="tx1"/>
                </a:solidFill>
              </a:rPr>
              <a:t> —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унікальний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цифровий</a:t>
            </a:r>
            <a:r>
              <a:rPr lang="ru-RU" dirty="0">
                <a:solidFill>
                  <a:schemeClr val="tx1"/>
                </a:solidFill>
              </a:rPr>
              <a:t> токен,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підтверджує</a:t>
            </a:r>
            <a:r>
              <a:rPr lang="ru-RU" dirty="0">
                <a:solidFill>
                  <a:schemeClr val="tx1"/>
                </a:solidFill>
              </a:rPr>
              <a:t> право </a:t>
            </a:r>
            <a:r>
              <a:rPr lang="ru-RU" dirty="0" err="1">
                <a:solidFill>
                  <a:schemeClr val="tx1"/>
                </a:solidFill>
              </a:rPr>
              <a:t>власності</a:t>
            </a:r>
            <a:r>
              <a:rPr lang="ru-RU" dirty="0">
                <a:solidFill>
                  <a:schemeClr val="tx1"/>
                </a:solidFill>
              </a:rPr>
              <a:t> на </a:t>
            </a:r>
            <a:r>
              <a:rPr lang="ru-RU" dirty="0" err="1">
                <a:solidFill>
                  <a:schemeClr val="tx1"/>
                </a:solidFill>
              </a:rPr>
              <a:t>конкретний</a:t>
            </a:r>
            <a:r>
              <a:rPr lang="ru-RU" dirty="0">
                <a:solidFill>
                  <a:schemeClr val="tx1"/>
                </a:solidFill>
              </a:rPr>
              <a:t> актив (</a:t>
            </a:r>
            <a:r>
              <a:rPr lang="ru-RU" dirty="0" err="1">
                <a:solidFill>
                  <a:schemeClr val="tx1"/>
                </a:solidFill>
              </a:rPr>
              <a:t>зображення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відео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музику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ігровий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об'єкт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тощо</a:t>
            </a:r>
            <a:r>
              <a:rPr lang="ru-RU" dirty="0">
                <a:solidFill>
                  <a:schemeClr val="tx1"/>
                </a:solidFill>
              </a:rPr>
              <a:t>).</a:t>
            </a:r>
            <a:endParaRPr lang="uk-UA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Властивості</a:t>
            </a:r>
            <a:r>
              <a:rPr lang="uk-UA" dirty="0">
                <a:solidFill>
                  <a:schemeClr val="tx1"/>
                </a:solidFill>
              </a:rPr>
              <a:t>: унікальність, невзаємозамінність, прив'язка до твору.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Приклад</a:t>
            </a:r>
            <a:r>
              <a:rPr lang="uk-UA" dirty="0">
                <a:solidFill>
                  <a:schemeClr val="tx1"/>
                </a:solidFill>
              </a:rPr>
              <a:t>: цифрове мистецтво, ігри (</a:t>
            </a:r>
            <a:r>
              <a:rPr lang="en-US" dirty="0" err="1">
                <a:solidFill>
                  <a:schemeClr val="tx1"/>
                </a:solidFill>
              </a:rPr>
              <a:t>Axie</a:t>
            </a:r>
            <a:r>
              <a:rPr lang="en-US" dirty="0">
                <a:solidFill>
                  <a:schemeClr val="tx1"/>
                </a:solidFill>
              </a:rPr>
              <a:t> Infinity), </a:t>
            </a:r>
            <a:r>
              <a:rPr lang="uk-UA" dirty="0">
                <a:solidFill>
                  <a:schemeClr val="tx1"/>
                </a:solidFill>
              </a:rPr>
              <a:t>музика, колекційні предмети.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12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</a:t>
            </a:r>
            <a:r>
              <a:rPr lang="en-US" sz="2800" b="1" dirty="0"/>
              <a:t>5</a:t>
            </a:r>
            <a:r>
              <a:rPr lang="uk-UA" sz="2800" b="1" dirty="0"/>
              <a:t>. </a:t>
            </a:r>
            <a:r>
              <a:rPr lang="en-US" sz="2800" b="1" dirty="0" err="1"/>
              <a:t>DeFi</a:t>
            </a:r>
            <a:r>
              <a:rPr lang="en-US" sz="2800" b="1" dirty="0"/>
              <a:t> (Decentralized Finance)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DeFi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uk-UA" dirty="0">
                <a:solidFill>
                  <a:schemeClr val="tx1"/>
                </a:solidFill>
              </a:rPr>
              <a:t>це фінансові сервіси на базі </a:t>
            </a:r>
            <a:r>
              <a:rPr lang="uk-UA" dirty="0" err="1">
                <a:solidFill>
                  <a:schemeClr val="tx1"/>
                </a:solidFill>
              </a:rPr>
              <a:t>блокчейну</a:t>
            </a:r>
            <a:r>
              <a:rPr lang="uk-UA" dirty="0">
                <a:solidFill>
                  <a:schemeClr val="tx1"/>
                </a:solidFill>
              </a:rPr>
              <a:t>, які працюють без банків або інших посередників.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Сервіси</a:t>
            </a:r>
            <a:r>
              <a:rPr lang="uk-UA" dirty="0">
                <a:solidFill>
                  <a:schemeClr val="tx1"/>
                </a:solidFill>
              </a:rPr>
              <a:t>: обмін валют, кредитування, страхування, дохідні ферми (</a:t>
            </a:r>
            <a:r>
              <a:rPr lang="en-US" dirty="0">
                <a:solidFill>
                  <a:schemeClr val="tx1"/>
                </a:solidFill>
              </a:rPr>
              <a:t>yield farming).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Платформи</a:t>
            </a:r>
            <a:r>
              <a:rPr lang="uk-UA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Uniswap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Aave</a:t>
            </a:r>
            <a:r>
              <a:rPr lang="en-US" dirty="0">
                <a:solidFill>
                  <a:schemeClr val="tx1"/>
                </a:solidFill>
              </a:rPr>
              <a:t>, Compound.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Переваги</a:t>
            </a:r>
            <a:r>
              <a:rPr lang="uk-UA" dirty="0">
                <a:solidFill>
                  <a:schemeClr val="tx1"/>
                </a:solidFill>
              </a:rPr>
              <a:t>: відкритість, автоматизація, доступність.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56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</a:t>
            </a:r>
            <a:r>
              <a:rPr lang="en-US" sz="2800" b="1" dirty="0"/>
              <a:t>6. </a:t>
            </a:r>
            <a:r>
              <a:rPr lang="en-US" sz="2800" b="1" dirty="0" err="1"/>
              <a:t>dApp</a:t>
            </a:r>
            <a:r>
              <a:rPr lang="en-US" sz="2800" b="1" dirty="0"/>
              <a:t> (Decentralized Application)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ru-RU" b="1" dirty="0" err="1">
                <a:solidFill>
                  <a:schemeClr val="tx1"/>
                </a:solidFill>
              </a:rPr>
              <a:t>dApp</a:t>
            </a:r>
            <a:r>
              <a:rPr lang="ru-RU" dirty="0">
                <a:solidFill>
                  <a:schemeClr val="tx1"/>
                </a:solidFill>
              </a:rPr>
              <a:t> —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децентралізований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додаток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працює</a:t>
            </a:r>
            <a:r>
              <a:rPr lang="ru-RU" dirty="0">
                <a:solidFill>
                  <a:schemeClr val="tx1"/>
                </a:solidFill>
              </a:rPr>
              <a:t> на </a:t>
            </a:r>
            <a:r>
              <a:rPr lang="ru-RU" dirty="0" err="1">
                <a:solidFill>
                  <a:schemeClr val="tx1"/>
                </a:solidFill>
              </a:rPr>
              <a:t>блокчейні</a:t>
            </a:r>
            <a:r>
              <a:rPr lang="ru-RU" dirty="0">
                <a:solidFill>
                  <a:schemeClr val="tx1"/>
                </a:solidFill>
              </a:rPr>
              <a:t> з </a:t>
            </a:r>
            <a:r>
              <a:rPr lang="ru-RU" dirty="0" err="1">
                <a:solidFill>
                  <a:schemeClr val="tx1"/>
                </a:solidFill>
              </a:rPr>
              <a:t>використанням</a:t>
            </a:r>
            <a:r>
              <a:rPr lang="ru-RU" dirty="0">
                <a:solidFill>
                  <a:schemeClr val="tx1"/>
                </a:solidFill>
              </a:rPr>
              <a:t> смарт-</a:t>
            </a:r>
            <a:r>
              <a:rPr lang="ru-RU" dirty="0" err="1">
                <a:solidFill>
                  <a:schemeClr val="tx1"/>
                </a:solidFill>
              </a:rPr>
              <a:t>контрактів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uk-UA" b="1" dirty="0">
                <a:solidFill>
                  <a:schemeClr val="tx1"/>
                </a:solidFill>
              </a:rPr>
              <a:t>Архітектура</a:t>
            </a:r>
            <a:r>
              <a:rPr lang="uk-UA" dirty="0">
                <a:solidFill>
                  <a:schemeClr val="tx1"/>
                </a:solidFill>
              </a:rPr>
              <a:t>: </a:t>
            </a:r>
            <a:r>
              <a:rPr lang="uk-UA" dirty="0" err="1">
                <a:solidFill>
                  <a:schemeClr val="tx1"/>
                </a:solidFill>
              </a:rPr>
              <a:t>фронтенд</a:t>
            </a:r>
            <a:r>
              <a:rPr lang="uk-UA" dirty="0">
                <a:solidFill>
                  <a:schemeClr val="tx1"/>
                </a:solidFill>
              </a:rPr>
              <a:t> + смарт-контракт.</a:t>
            </a:r>
          </a:p>
          <a:p>
            <a:r>
              <a:rPr lang="uk-UA" b="1" dirty="0">
                <a:solidFill>
                  <a:schemeClr val="tx1"/>
                </a:solidFill>
              </a:rPr>
              <a:t>Властивості</a:t>
            </a:r>
            <a:r>
              <a:rPr lang="uk-UA" dirty="0">
                <a:solidFill>
                  <a:schemeClr val="tx1"/>
                </a:solidFill>
              </a:rPr>
              <a:t>: відкритий код, автономність, незмінність.</a:t>
            </a:r>
          </a:p>
          <a:p>
            <a:r>
              <a:rPr lang="uk-UA" b="1" dirty="0">
                <a:solidFill>
                  <a:schemeClr val="tx1"/>
                </a:solidFill>
              </a:rPr>
              <a:t>Приклади</a:t>
            </a:r>
            <a:r>
              <a:rPr lang="uk-UA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OpenSea</a:t>
            </a:r>
            <a:r>
              <a:rPr lang="en-US" dirty="0">
                <a:solidFill>
                  <a:schemeClr val="tx1"/>
                </a:solidFill>
              </a:rPr>
              <a:t> (NFT), </a:t>
            </a:r>
            <a:r>
              <a:rPr lang="en-US" dirty="0" err="1">
                <a:solidFill>
                  <a:schemeClr val="tx1"/>
                </a:solidFill>
              </a:rPr>
              <a:t>Uniswap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DeFi</a:t>
            </a:r>
            <a:r>
              <a:rPr lang="en-US" dirty="0">
                <a:solidFill>
                  <a:schemeClr val="tx1"/>
                </a:solidFill>
              </a:rPr>
              <a:t>), Lens (</a:t>
            </a:r>
            <a:r>
              <a:rPr lang="uk-UA" dirty="0">
                <a:solidFill>
                  <a:schemeClr val="tx1"/>
                </a:solidFill>
              </a:rPr>
              <a:t>соцмережа).</a:t>
            </a:r>
            <a:endParaRPr lang="LID409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65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</a:t>
            </a:r>
            <a:r>
              <a:rPr lang="en-US" sz="2800" b="1" dirty="0"/>
              <a:t>7. DAO (Decentralized Autonomous Organization)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4" y="886407"/>
            <a:ext cx="10366311" cy="591299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DAO — </a:t>
            </a:r>
            <a:r>
              <a:rPr lang="ru-RU" dirty="0" err="1">
                <a:solidFill>
                  <a:schemeClr val="tx1"/>
                </a:solidFill>
              </a:rPr>
              <a:t>це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децентралізована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організація</a:t>
            </a:r>
            <a:r>
              <a:rPr lang="ru-RU" dirty="0">
                <a:solidFill>
                  <a:schemeClr val="tx1"/>
                </a:solidFill>
              </a:rPr>
              <a:t>, яка </a:t>
            </a:r>
            <a:r>
              <a:rPr lang="ru-RU" dirty="0" err="1">
                <a:solidFill>
                  <a:schemeClr val="tx1"/>
                </a:solidFill>
              </a:rPr>
              <a:t>управляється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спільнотою</a:t>
            </a:r>
            <a:r>
              <a:rPr lang="ru-RU" dirty="0">
                <a:solidFill>
                  <a:schemeClr val="tx1"/>
                </a:solidFill>
              </a:rPr>
              <a:t> через смарт-</a:t>
            </a:r>
            <a:r>
              <a:rPr lang="ru-RU" dirty="0" err="1">
                <a:solidFill>
                  <a:schemeClr val="tx1"/>
                </a:solidFill>
              </a:rPr>
              <a:t>контракти</a:t>
            </a:r>
            <a:r>
              <a:rPr lang="ru-RU" dirty="0">
                <a:solidFill>
                  <a:schemeClr val="tx1"/>
                </a:solidFill>
              </a:rPr>
              <a:t>, без центрального </a:t>
            </a:r>
            <a:r>
              <a:rPr lang="ru-RU" dirty="0" err="1">
                <a:solidFill>
                  <a:schemeClr val="tx1"/>
                </a:solidFill>
              </a:rPr>
              <a:t>керівництва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uk-UA" b="1" dirty="0">
                <a:solidFill>
                  <a:schemeClr val="tx1"/>
                </a:solidFill>
              </a:rPr>
              <a:t>Механізм</a:t>
            </a:r>
            <a:r>
              <a:rPr lang="uk-UA" dirty="0">
                <a:solidFill>
                  <a:schemeClr val="tx1"/>
                </a:solidFill>
              </a:rPr>
              <a:t>: голосування токенами, автоматичне виконання рішень.</a:t>
            </a:r>
          </a:p>
          <a:p>
            <a:r>
              <a:rPr lang="uk-UA" b="1" dirty="0">
                <a:solidFill>
                  <a:schemeClr val="tx1"/>
                </a:solidFill>
              </a:rPr>
              <a:t>Сфери</a:t>
            </a:r>
            <a:r>
              <a:rPr lang="uk-UA" dirty="0">
                <a:solidFill>
                  <a:schemeClr val="tx1"/>
                </a:solidFill>
              </a:rPr>
              <a:t>: управління проектами, спільні інвестиції, соціальні ініціативи.</a:t>
            </a:r>
          </a:p>
          <a:p>
            <a:r>
              <a:rPr lang="uk-UA" b="1" dirty="0">
                <a:solidFill>
                  <a:schemeClr val="tx1"/>
                </a:solidFill>
              </a:rPr>
              <a:t>Приклад</a:t>
            </a:r>
            <a:r>
              <a:rPr lang="uk-UA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MakerDAO</a:t>
            </a:r>
            <a:r>
              <a:rPr lang="en-US" dirty="0">
                <a:solidFill>
                  <a:schemeClr val="tx1"/>
                </a:solidFill>
              </a:rPr>
              <a:t>, Aragon, </a:t>
            </a:r>
            <a:r>
              <a:rPr lang="en-US" dirty="0" err="1">
                <a:solidFill>
                  <a:schemeClr val="tx1"/>
                </a:solidFill>
              </a:rPr>
              <a:t>MolochDAO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226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2.8</a:t>
            </a:r>
            <a:r>
              <a:rPr lang="en-US" sz="2800" b="1" dirty="0"/>
              <a:t>. </a:t>
            </a:r>
            <a:r>
              <a:rPr lang="uk-UA" sz="2800" b="1" dirty="0"/>
              <a:t>Висновки</a:t>
            </a:r>
            <a:endParaRPr lang="LID4096" sz="2800" dirty="0"/>
          </a:p>
        </p:txBody>
      </p:sp>
      <p:graphicFrame>
        <p:nvGraphicFramePr>
          <p:cNvPr id="6" name="Таблиця 5">
            <a:extLst>
              <a:ext uri="{FF2B5EF4-FFF2-40B4-BE49-F238E27FC236}">
                <a16:creationId xmlns:a16="http://schemas.microsoft.com/office/drawing/2014/main" id="{EBD5A7FE-F8FF-4C33-9F09-7DCD73D9B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503978"/>
              </p:ext>
            </p:extLst>
          </p:nvPr>
        </p:nvGraphicFramePr>
        <p:xfrm>
          <a:off x="1923589" y="1377820"/>
          <a:ext cx="10178214" cy="3886200"/>
        </p:xfrm>
        <a:graphic>
          <a:graphicData uri="http://schemas.openxmlformats.org/drawingml/2006/table">
            <a:tbl>
              <a:tblPr/>
              <a:tblGrid>
                <a:gridCol w="3392738">
                  <a:extLst>
                    <a:ext uri="{9D8B030D-6E8A-4147-A177-3AD203B41FA5}">
                      <a16:colId xmlns:a16="http://schemas.microsoft.com/office/drawing/2014/main" val="1927241815"/>
                    </a:ext>
                  </a:extLst>
                </a:gridCol>
                <a:gridCol w="3392738">
                  <a:extLst>
                    <a:ext uri="{9D8B030D-6E8A-4147-A177-3AD203B41FA5}">
                      <a16:colId xmlns:a16="http://schemas.microsoft.com/office/drawing/2014/main" val="1554347878"/>
                    </a:ext>
                  </a:extLst>
                </a:gridCol>
                <a:gridCol w="3392738">
                  <a:extLst>
                    <a:ext uri="{9D8B030D-6E8A-4147-A177-3AD203B41FA5}">
                      <a16:colId xmlns:a16="http://schemas.microsoft.com/office/drawing/2014/main" val="374640127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lang="uk-UA" sz="1500" b="1" dirty="0"/>
                        <a:t>Компонент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 b="1" dirty="0"/>
                        <a:t>Опис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 b="1" dirty="0"/>
                        <a:t>Приклад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68172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r>
                        <a:rPr lang="uk-UA" sz="1500" b="1" dirty="0"/>
                        <a:t>Децентралізація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/>
                        <a:t>Відсутність центрального контролю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IPFS, P2P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5941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r>
                        <a:rPr lang="uk-UA" sz="1500" b="1" dirty="0" err="1"/>
                        <a:t>Блокчейн</a:t>
                      </a:r>
                      <a:endParaRPr lang="uk-UA" sz="1500" b="1" dirty="0"/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/>
                        <a:t>Децентралізований реєстр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Ethereum, Solana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97133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uk-UA" sz="1500" b="1" dirty="0" err="1"/>
                        <a:t>Криптовалюта</a:t>
                      </a:r>
                      <a:endParaRPr lang="uk-UA" sz="1500" b="1" dirty="0"/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/>
                        <a:t>Цифрові активи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ETH, BTC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44754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r>
                        <a:rPr lang="en-US" sz="1500" b="1" dirty="0"/>
                        <a:t>NFT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/>
                        <a:t>Унікальні цифрові токени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OpenSea, Rarible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65951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r>
                        <a:rPr lang="en-US" sz="1500" b="1" dirty="0" err="1"/>
                        <a:t>DeFi</a:t>
                      </a:r>
                      <a:endParaRPr lang="en-US" sz="1500" b="1" dirty="0"/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/>
                        <a:t>Фінансові сервіси без банків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Uniswap, Aave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1655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r>
                        <a:rPr lang="en-US" sz="1500" b="1" dirty="0" err="1"/>
                        <a:t>dApp</a:t>
                      </a:r>
                      <a:endParaRPr lang="en-US" sz="1500" b="1" dirty="0"/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500"/>
                        <a:t>Децентралізовані додатки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Lens, Gnosis Safe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269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r>
                        <a:rPr lang="en-US" sz="1500" b="1" dirty="0"/>
                        <a:t>DAO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Спільнота, що сама собою керує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MakerDAO</a:t>
                      </a:r>
                      <a:r>
                        <a:rPr lang="en-US" sz="1500" dirty="0"/>
                        <a:t>, Aragon</a:t>
                      </a:r>
                    </a:p>
                  </a:txBody>
                  <a:tcPr marL="77724" marR="77724" marT="38862" marB="388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30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00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3.1</a:t>
            </a:r>
            <a:r>
              <a:rPr lang="en-US" sz="2800" b="1" dirty="0"/>
              <a:t>. </a:t>
            </a:r>
            <a:r>
              <a:rPr lang="uk-UA" sz="2800" b="1" dirty="0"/>
              <a:t>Види </a:t>
            </a:r>
            <a:r>
              <a:rPr lang="uk-UA" sz="2800" b="1" dirty="0" err="1"/>
              <a:t>криптовалют</a:t>
            </a:r>
            <a:endParaRPr lang="LID4096" sz="2800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C493D358-E03B-4FB6-98C5-FF2CEB961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28243"/>
              </p:ext>
            </p:extLst>
          </p:nvPr>
        </p:nvGraphicFramePr>
        <p:xfrm>
          <a:off x="2082800" y="1135226"/>
          <a:ext cx="10109200" cy="5000112"/>
        </p:xfrm>
        <a:graphic>
          <a:graphicData uri="http://schemas.openxmlformats.org/drawingml/2006/table">
            <a:tbl>
              <a:tblPr/>
              <a:tblGrid>
                <a:gridCol w="2740212">
                  <a:extLst>
                    <a:ext uri="{9D8B030D-6E8A-4147-A177-3AD203B41FA5}">
                      <a16:colId xmlns:a16="http://schemas.microsoft.com/office/drawing/2014/main" val="789120636"/>
                    </a:ext>
                  </a:extLst>
                </a:gridCol>
                <a:gridCol w="3999255">
                  <a:extLst>
                    <a:ext uri="{9D8B030D-6E8A-4147-A177-3AD203B41FA5}">
                      <a16:colId xmlns:a16="http://schemas.microsoft.com/office/drawing/2014/main" val="1373404162"/>
                    </a:ext>
                  </a:extLst>
                </a:gridCol>
                <a:gridCol w="3369733">
                  <a:extLst>
                    <a:ext uri="{9D8B030D-6E8A-4147-A177-3AD203B41FA5}">
                      <a16:colId xmlns:a16="http://schemas.microsoft.com/office/drawing/2014/main" val="876456513"/>
                    </a:ext>
                  </a:extLst>
                </a:gridCol>
              </a:tblGrid>
              <a:tr h="263816">
                <a:tc>
                  <a:txBody>
                    <a:bodyPr/>
                    <a:lstStyle/>
                    <a:p>
                      <a:r>
                        <a:rPr lang="uk-UA" sz="1400" b="1" dirty="0"/>
                        <a:t>Тип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b="1" dirty="0"/>
                        <a:t>Опис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b="1" dirty="0"/>
                        <a:t>Приклади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430772"/>
                  </a:ext>
                </a:extLst>
              </a:tr>
              <a:tr h="461678">
                <a:tc>
                  <a:txBody>
                    <a:bodyPr/>
                    <a:lstStyle/>
                    <a:p>
                      <a:r>
                        <a:rPr lang="uk-UA" sz="1400" b="1" dirty="0"/>
                        <a:t>Платіжні</a:t>
                      </a:r>
                      <a:endParaRPr lang="uk-UA" sz="1400" dirty="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Засіб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обміну</a:t>
                      </a:r>
                      <a:r>
                        <a:rPr lang="ru-RU" sz="1400" dirty="0"/>
                        <a:t>, аналог </a:t>
                      </a:r>
                      <a:r>
                        <a:rPr lang="ru-RU" sz="1400" dirty="0" err="1"/>
                        <a:t>електронних</a:t>
                      </a:r>
                      <a:r>
                        <a:rPr lang="ru-RU" sz="1400" dirty="0"/>
                        <a:t> грошей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Bitcoin (BTC), Litecoin (LTC), Dash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336665"/>
                  </a:ext>
                </a:extLst>
              </a:tr>
              <a:tr h="659540">
                <a:tc>
                  <a:txBody>
                    <a:bodyPr/>
                    <a:lstStyle/>
                    <a:p>
                      <a:r>
                        <a:rPr lang="uk-UA" sz="1400" b="1"/>
                        <a:t>Смарт-контрактні платформи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Дають змогу створювати </a:t>
                      </a:r>
                      <a:r>
                        <a:rPr lang="en-US" sz="1400"/>
                        <a:t>dApps, NFT, DeFi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Ethereum (ETH), Solana (SOL), Cardano (ADA)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290139"/>
                  </a:ext>
                </a:extLst>
              </a:tr>
              <a:tr h="461678">
                <a:tc>
                  <a:txBody>
                    <a:bodyPr/>
                    <a:lstStyle/>
                    <a:p>
                      <a:r>
                        <a:rPr lang="uk-UA" sz="1400" b="1"/>
                        <a:t>Стейблкоїни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Прив’язані</a:t>
                      </a:r>
                      <a:r>
                        <a:rPr lang="ru-RU" sz="1400" dirty="0"/>
                        <a:t> до </a:t>
                      </a:r>
                      <a:r>
                        <a:rPr lang="ru-RU" sz="1400" dirty="0" err="1"/>
                        <a:t>фіатної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валюти</a:t>
                      </a:r>
                      <a:r>
                        <a:rPr lang="ru-RU" sz="1400" dirty="0"/>
                        <a:t> (</a:t>
                      </a:r>
                      <a:r>
                        <a:rPr lang="ru-RU" sz="1400" dirty="0" err="1"/>
                        <a:t>зазвичай</a:t>
                      </a:r>
                      <a:r>
                        <a:rPr lang="ru-RU" sz="1400" dirty="0"/>
                        <a:t> $)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USDT, USDC, DAI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645873"/>
                  </a:ext>
                </a:extLst>
              </a:tr>
              <a:tr h="607812">
                <a:tc>
                  <a:txBody>
                    <a:bodyPr/>
                    <a:lstStyle/>
                    <a:p>
                      <a:r>
                        <a:rPr lang="uk-UA" sz="1400" b="1"/>
                        <a:t>Говернанс токени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Для </a:t>
                      </a:r>
                      <a:r>
                        <a:rPr lang="ru-RU" sz="1400" dirty="0" err="1"/>
                        <a:t>голосування</a:t>
                      </a:r>
                      <a:r>
                        <a:rPr lang="ru-RU" sz="1400" dirty="0"/>
                        <a:t> у DAO </a:t>
                      </a:r>
                      <a:r>
                        <a:rPr lang="ru-RU" sz="1400" dirty="0" err="1"/>
                        <a:t>чи</a:t>
                      </a:r>
                      <a:r>
                        <a:rPr lang="ru-RU" sz="1400" dirty="0"/>
                        <a:t> протоколах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UNI (Uniswap), COMP, AAVE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361311"/>
                  </a:ext>
                </a:extLst>
              </a:tr>
              <a:tr h="461678">
                <a:tc>
                  <a:txBody>
                    <a:bodyPr/>
                    <a:lstStyle/>
                    <a:p>
                      <a:r>
                        <a:rPr lang="en-US" sz="1400" b="1"/>
                        <a:t>NFT (</a:t>
                      </a:r>
                      <a:r>
                        <a:rPr lang="uk-UA" sz="1400" b="1"/>
                        <a:t>невзаємозамінні токени)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Представляють цифрові унікальні активи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Колекційні предмети, цифрове мистецтво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668575"/>
                  </a:ext>
                </a:extLst>
              </a:tr>
              <a:tr h="461678">
                <a:tc>
                  <a:txBody>
                    <a:bodyPr/>
                    <a:lstStyle/>
                    <a:p>
                      <a:r>
                        <a:rPr lang="uk-UA" sz="1400" b="1"/>
                        <a:t>Ігрові та метавсесвітні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Валюта віртуальних світів, ігор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AXS (Axie Infinity), SAND, MANA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944950"/>
                  </a:ext>
                </a:extLst>
              </a:tr>
              <a:tr h="461678">
                <a:tc>
                  <a:txBody>
                    <a:bodyPr/>
                    <a:lstStyle/>
                    <a:p>
                      <a:r>
                        <a:rPr lang="uk-UA" sz="1400" b="1"/>
                        <a:t>Приватні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Фокус на анонімності транзакцій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Monero</a:t>
                      </a:r>
                      <a:r>
                        <a:rPr lang="en-US" sz="1400" dirty="0"/>
                        <a:t> (XMR), </a:t>
                      </a:r>
                      <a:r>
                        <a:rPr lang="en-US" sz="1400" dirty="0" err="1"/>
                        <a:t>Zcash</a:t>
                      </a:r>
                      <a:r>
                        <a:rPr lang="en-US" sz="1400" dirty="0"/>
                        <a:t> (ZEC)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885935"/>
                  </a:ext>
                </a:extLst>
              </a:tr>
              <a:tr h="461678">
                <a:tc>
                  <a:txBody>
                    <a:bodyPr/>
                    <a:lstStyle/>
                    <a:p>
                      <a:r>
                        <a:rPr lang="uk-UA" sz="1400" b="1"/>
                        <a:t>Утилітарні токени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Дають доступ до послуг чи функцій платформи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BNB (Binance), BAT (Brave), CHZ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216902"/>
                  </a:ext>
                </a:extLst>
              </a:tr>
              <a:tr h="659540">
                <a:tc>
                  <a:txBody>
                    <a:bodyPr/>
                    <a:lstStyle/>
                    <a:p>
                      <a:r>
                        <a:rPr lang="uk-UA" sz="1400" b="1"/>
                        <a:t>Інфраструктурні</a:t>
                      </a:r>
                      <a:endParaRPr lang="uk-UA" sz="1400"/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Оракули, зберігання, індексація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LINK (</a:t>
                      </a:r>
                      <a:r>
                        <a:rPr lang="en-US" sz="1400" dirty="0" err="1"/>
                        <a:t>Chainlink</a:t>
                      </a:r>
                      <a:r>
                        <a:rPr lang="en-US" sz="1400" dirty="0"/>
                        <a:t>), GRT (The Graph), FIL (</a:t>
                      </a:r>
                      <a:r>
                        <a:rPr lang="en-US" sz="1400" dirty="0" err="1"/>
                        <a:t>Filecoin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53236" marR="53236" marT="26618" marB="266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74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032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3.2</a:t>
            </a:r>
            <a:r>
              <a:rPr lang="en-US" sz="2800" b="1" dirty="0"/>
              <a:t>. </a:t>
            </a:r>
            <a:r>
              <a:rPr lang="ru-RU" sz="2800" b="1" dirty="0" err="1"/>
              <a:t>Найкращі</a:t>
            </a:r>
            <a:r>
              <a:rPr lang="ru-RU" sz="2800" b="1" dirty="0"/>
              <a:t> практики для </a:t>
            </a:r>
            <a:r>
              <a:rPr lang="ru-RU" sz="2800" b="1" dirty="0" err="1"/>
              <a:t>роботи</a:t>
            </a:r>
            <a:r>
              <a:rPr lang="ru-RU" sz="2800" b="1" dirty="0"/>
              <a:t> з криптовалютою</a:t>
            </a:r>
            <a:endParaRPr lang="LID4096" sz="28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3B1DC4-9AD1-4159-8E09-04784AB79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980" y="744167"/>
            <a:ext cx="9908955" cy="5912993"/>
          </a:xfrm>
        </p:spPr>
        <p:txBody>
          <a:bodyPr>
            <a:normAutofit fontScale="92500"/>
          </a:bodyPr>
          <a:lstStyle/>
          <a:p>
            <a:r>
              <a:rPr lang="uk-UA" sz="2400" b="1" dirty="0">
                <a:solidFill>
                  <a:schemeClr val="tx1"/>
                </a:solidFill>
              </a:rPr>
              <a:t>Безпека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Використовуйте холодні гаманці</a:t>
            </a:r>
            <a:r>
              <a:rPr lang="uk-UA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</a:rPr>
              <a:t>hardware wallet — </a:t>
            </a:r>
            <a:r>
              <a:rPr lang="uk-UA" dirty="0">
                <a:solidFill>
                  <a:schemeClr val="tx1"/>
                </a:solidFill>
              </a:rPr>
              <a:t>наприклад, </a:t>
            </a:r>
            <a:r>
              <a:rPr lang="en-US" dirty="0">
                <a:solidFill>
                  <a:schemeClr val="tx1"/>
                </a:solidFill>
              </a:rPr>
              <a:t>Ledger, </a:t>
            </a:r>
            <a:r>
              <a:rPr lang="en-US" dirty="0" err="1">
                <a:solidFill>
                  <a:schemeClr val="tx1"/>
                </a:solidFill>
              </a:rPr>
              <a:t>Trezor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uk-UA" dirty="0">
                <a:solidFill>
                  <a:schemeClr val="tx1"/>
                </a:solidFill>
              </a:rPr>
              <a:t>для великих сум.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Увімкніть </a:t>
            </a:r>
            <a:r>
              <a:rPr lang="uk-UA" b="1" dirty="0" err="1">
                <a:solidFill>
                  <a:schemeClr val="tx1"/>
                </a:solidFill>
              </a:rPr>
              <a:t>двофакторну</a:t>
            </a:r>
            <a:r>
              <a:rPr lang="uk-UA" b="1" dirty="0">
                <a:solidFill>
                  <a:schemeClr val="tx1"/>
                </a:solidFill>
              </a:rPr>
              <a:t> автентифікацію </a:t>
            </a:r>
            <a:r>
              <a:rPr lang="uk-UA" dirty="0">
                <a:solidFill>
                  <a:schemeClr val="tx1"/>
                </a:solidFill>
              </a:rPr>
              <a:t>(2</a:t>
            </a:r>
            <a:r>
              <a:rPr lang="en-US" dirty="0">
                <a:solidFill>
                  <a:schemeClr val="tx1"/>
                </a:solidFill>
              </a:rPr>
              <a:t>FA) </a:t>
            </a:r>
            <a:r>
              <a:rPr lang="uk-UA" dirty="0">
                <a:solidFill>
                  <a:schemeClr val="tx1"/>
                </a:solidFill>
              </a:rPr>
              <a:t>у всіх сервісах.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Зберігайте </a:t>
            </a:r>
            <a:r>
              <a:rPr lang="en-US" b="1" dirty="0">
                <a:solidFill>
                  <a:schemeClr val="tx1"/>
                </a:solidFill>
              </a:rPr>
              <a:t>seed-</a:t>
            </a:r>
            <a:r>
              <a:rPr lang="uk-UA" b="1" dirty="0">
                <a:solidFill>
                  <a:schemeClr val="tx1"/>
                </a:solidFill>
              </a:rPr>
              <a:t>фрази </a:t>
            </a:r>
            <a:r>
              <a:rPr lang="uk-UA" dirty="0" err="1">
                <a:solidFill>
                  <a:schemeClr val="tx1"/>
                </a:solidFill>
              </a:rPr>
              <a:t>офлайн</a:t>
            </a:r>
            <a:r>
              <a:rPr lang="uk-UA" dirty="0">
                <a:solidFill>
                  <a:schemeClr val="tx1"/>
                </a:solidFill>
              </a:rPr>
              <a:t>, бажано на папері у безпечному місці.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Ніколи не діліться приватними ключами.</a:t>
            </a:r>
          </a:p>
          <a:p>
            <a:r>
              <a:rPr lang="uk-UA" sz="2600" b="1" dirty="0">
                <a:solidFill>
                  <a:schemeClr val="tx1"/>
                </a:solidFill>
              </a:rPr>
              <a:t>Фінансова відповідальність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Інвестуйте тільки те, що можете дозволити собі втратити.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Диверсифікуйте портфель </a:t>
            </a:r>
            <a:r>
              <a:rPr lang="uk-UA" dirty="0">
                <a:solidFill>
                  <a:schemeClr val="tx1"/>
                </a:solidFill>
              </a:rPr>
              <a:t>— не тримайте всі кошти в одній валюті.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Фіксуйте прибуток </a:t>
            </a:r>
            <a:r>
              <a:rPr lang="uk-UA" dirty="0">
                <a:solidFill>
                  <a:schemeClr val="tx1"/>
                </a:solidFill>
              </a:rPr>
              <a:t>— час від часу виводьте частину у </a:t>
            </a:r>
            <a:r>
              <a:rPr lang="uk-UA" dirty="0" err="1">
                <a:solidFill>
                  <a:schemeClr val="tx1"/>
                </a:solidFill>
              </a:rPr>
              <a:t>фіат</a:t>
            </a:r>
            <a:r>
              <a:rPr lang="uk-UA" dirty="0">
                <a:solidFill>
                  <a:schemeClr val="tx1"/>
                </a:solidFill>
              </a:rPr>
              <a:t> або </a:t>
            </a:r>
            <a:r>
              <a:rPr lang="uk-UA" dirty="0" err="1">
                <a:solidFill>
                  <a:schemeClr val="tx1"/>
                </a:solidFill>
              </a:rPr>
              <a:t>стейблкоїни</a:t>
            </a:r>
            <a:r>
              <a:rPr lang="uk-UA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solidFill>
                  <a:schemeClr val="tx1"/>
                </a:solidFill>
              </a:rPr>
              <a:t>Слідкуйте за комісіями </a:t>
            </a:r>
            <a:r>
              <a:rPr lang="uk-UA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gas fees) — </a:t>
            </a:r>
            <a:r>
              <a:rPr lang="uk-UA" dirty="0">
                <a:solidFill>
                  <a:schemeClr val="tx1"/>
                </a:solidFill>
              </a:rPr>
              <a:t>особливо в </a:t>
            </a:r>
            <a:r>
              <a:rPr lang="en-US" dirty="0">
                <a:solidFill>
                  <a:schemeClr val="tx1"/>
                </a:solidFill>
              </a:rPr>
              <a:t>Ethereum-</a:t>
            </a:r>
            <a:r>
              <a:rPr lang="uk-UA" dirty="0">
                <a:solidFill>
                  <a:schemeClr val="tx1"/>
                </a:solidFill>
              </a:rPr>
              <a:t>мережі.</a:t>
            </a:r>
          </a:p>
          <a:p>
            <a:r>
              <a:rPr lang="uk-UA" sz="2400" b="1" dirty="0">
                <a:solidFill>
                  <a:schemeClr val="tx1"/>
                </a:solidFill>
              </a:rPr>
              <a:t>Освіченість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Робіть власне дослідження (</a:t>
            </a:r>
            <a:r>
              <a:rPr lang="en-US" b="1" dirty="0">
                <a:solidFill>
                  <a:schemeClr val="tx1"/>
                </a:solidFill>
              </a:rPr>
              <a:t>DYOR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uk-UA" dirty="0">
                <a:solidFill>
                  <a:schemeClr val="tx1"/>
                </a:solidFill>
              </a:rPr>
              <a:t>перед інвестуванням у будь-який токен чи </a:t>
            </a:r>
            <a:r>
              <a:rPr lang="uk-UA" dirty="0" err="1">
                <a:solidFill>
                  <a:schemeClr val="tx1"/>
                </a:solidFill>
              </a:rPr>
              <a:t>проєкт</a:t>
            </a:r>
            <a:r>
              <a:rPr lang="uk-UA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Слідкуйте за новинами з перевірених джерел (</a:t>
            </a:r>
            <a:r>
              <a:rPr lang="en-US" b="1" dirty="0">
                <a:solidFill>
                  <a:schemeClr val="tx1"/>
                </a:solidFill>
              </a:rPr>
              <a:t>CoinDesk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CoinTelegraph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Messari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uk-UA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Зрозумійте технологію: що таке </a:t>
            </a:r>
            <a:r>
              <a:rPr lang="uk-UA" dirty="0" err="1">
                <a:solidFill>
                  <a:schemeClr val="tx1"/>
                </a:solidFill>
              </a:rPr>
              <a:t>блокчейн</a:t>
            </a:r>
            <a:r>
              <a:rPr lang="uk-UA" dirty="0">
                <a:solidFill>
                  <a:schemeClr val="tx1"/>
                </a:solidFill>
              </a:rPr>
              <a:t>, смарт-контракт, </a:t>
            </a:r>
            <a:r>
              <a:rPr lang="en-US" dirty="0">
                <a:solidFill>
                  <a:schemeClr val="tx1"/>
                </a:solidFill>
              </a:rPr>
              <a:t>DAO </a:t>
            </a:r>
            <a:r>
              <a:rPr lang="uk-UA" dirty="0">
                <a:solidFill>
                  <a:schemeClr val="tx1"/>
                </a:solidFill>
              </a:rPr>
              <a:t>тощо.</a:t>
            </a:r>
          </a:p>
        </p:txBody>
      </p:sp>
    </p:spTree>
    <p:extLst>
      <p:ext uri="{BB962C8B-B14F-4D97-AF65-F5344CB8AC3E}">
        <p14:creationId xmlns:p14="http://schemas.microsoft.com/office/powerpoint/2010/main" val="222210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B44CD-A2F9-4AFD-A403-45D2B3C4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83" y="58600"/>
            <a:ext cx="11033481" cy="603874"/>
          </a:xfrm>
        </p:spPr>
        <p:txBody>
          <a:bodyPr>
            <a:normAutofit/>
          </a:bodyPr>
          <a:lstStyle/>
          <a:p>
            <a:r>
              <a:rPr lang="uk-UA" sz="2800" b="1" dirty="0"/>
              <a:t>3.</a:t>
            </a:r>
            <a:r>
              <a:rPr lang="ru-RU" sz="2800" b="1" dirty="0"/>
              <a:t>3. </a:t>
            </a:r>
            <a:r>
              <a:rPr lang="ru-RU" sz="2800" b="1" dirty="0" err="1"/>
              <a:t>Типові</a:t>
            </a:r>
            <a:r>
              <a:rPr lang="ru-RU" sz="2800" b="1" dirty="0"/>
              <a:t> </a:t>
            </a:r>
            <a:r>
              <a:rPr lang="ru-RU" sz="2800" b="1" dirty="0" err="1"/>
              <a:t>помилки</a:t>
            </a:r>
            <a:r>
              <a:rPr lang="ru-RU" sz="2800" b="1" dirty="0"/>
              <a:t> </a:t>
            </a:r>
            <a:r>
              <a:rPr lang="ru-RU" sz="2800" b="1" dirty="0" err="1"/>
              <a:t>під</a:t>
            </a:r>
            <a:r>
              <a:rPr lang="ru-RU" sz="2800" b="1" dirty="0"/>
              <a:t> час </a:t>
            </a:r>
            <a:r>
              <a:rPr lang="ru-RU" sz="2800" b="1" dirty="0" err="1"/>
              <a:t>роботи</a:t>
            </a:r>
            <a:r>
              <a:rPr lang="ru-RU" sz="2800" b="1" dirty="0"/>
              <a:t> з криптовалютою</a:t>
            </a:r>
            <a:endParaRPr lang="LID4096" sz="2800" dirty="0"/>
          </a:p>
        </p:txBody>
      </p:sp>
      <p:graphicFrame>
        <p:nvGraphicFramePr>
          <p:cNvPr id="6" name="Таблиця 5">
            <a:extLst>
              <a:ext uri="{FF2B5EF4-FFF2-40B4-BE49-F238E27FC236}">
                <a16:creationId xmlns:a16="http://schemas.microsoft.com/office/drawing/2014/main" id="{243CCE43-1A69-4170-8F64-8F1698AF1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92177"/>
              </p:ext>
            </p:extLst>
          </p:nvPr>
        </p:nvGraphicFramePr>
        <p:xfrm>
          <a:off x="2153532" y="929136"/>
          <a:ext cx="9784467" cy="5329422"/>
        </p:xfrm>
        <a:graphic>
          <a:graphicData uri="http://schemas.openxmlformats.org/drawingml/2006/table">
            <a:tbl>
              <a:tblPr/>
              <a:tblGrid>
                <a:gridCol w="3261489">
                  <a:extLst>
                    <a:ext uri="{9D8B030D-6E8A-4147-A177-3AD203B41FA5}">
                      <a16:colId xmlns:a16="http://schemas.microsoft.com/office/drawing/2014/main" val="3350490431"/>
                    </a:ext>
                  </a:extLst>
                </a:gridCol>
                <a:gridCol w="3515619">
                  <a:extLst>
                    <a:ext uri="{9D8B030D-6E8A-4147-A177-3AD203B41FA5}">
                      <a16:colId xmlns:a16="http://schemas.microsoft.com/office/drawing/2014/main" val="3023862460"/>
                    </a:ext>
                  </a:extLst>
                </a:gridCol>
                <a:gridCol w="3007359">
                  <a:extLst>
                    <a:ext uri="{9D8B030D-6E8A-4147-A177-3AD203B41FA5}">
                      <a16:colId xmlns:a16="http://schemas.microsoft.com/office/drawing/2014/main" val="3284930783"/>
                    </a:ext>
                  </a:extLst>
                </a:gridCol>
              </a:tblGrid>
              <a:tr h="299403">
                <a:tc>
                  <a:txBody>
                    <a:bodyPr/>
                    <a:lstStyle/>
                    <a:p>
                      <a:r>
                        <a:rPr lang="uk-UA" sz="1400"/>
                        <a:t>Помилка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Пояснення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Приклад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005044"/>
                  </a:ext>
                </a:extLst>
              </a:tr>
              <a:tr h="525111">
                <a:tc>
                  <a:txBody>
                    <a:bodyPr/>
                    <a:lstStyle/>
                    <a:p>
                      <a:r>
                        <a:rPr lang="uk-UA" sz="1400" b="1"/>
                        <a:t>Зберігання на біржі</a:t>
                      </a:r>
                      <a:endParaRPr lang="uk-UA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Біржа може зламатися або збанкрутувати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Втрата коштів при краху FTX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905365"/>
                  </a:ext>
                </a:extLst>
              </a:tr>
              <a:tr h="750818">
                <a:tc>
                  <a:txBody>
                    <a:bodyPr/>
                    <a:lstStyle/>
                    <a:p>
                      <a:r>
                        <a:rPr lang="uk-UA" sz="1400" b="1"/>
                        <a:t>Втрата </a:t>
                      </a:r>
                      <a:r>
                        <a:rPr lang="en-US" sz="1400" b="1"/>
                        <a:t>seed-</a:t>
                      </a:r>
                      <a:r>
                        <a:rPr lang="uk-UA" sz="1400" b="1"/>
                        <a:t>фрази</a:t>
                      </a:r>
                      <a:endParaRPr lang="uk-UA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Без неї неможливо відновити доступ до гаманця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Користувач втрачає все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115901"/>
                  </a:ext>
                </a:extLst>
              </a:tr>
              <a:tr h="750818">
                <a:tc>
                  <a:txBody>
                    <a:bodyPr/>
                    <a:lstStyle/>
                    <a:p>
                      <a:r>
                        <a:rPr lang="uk-UA" sz="1400" b="1"/>
                        <a:t>Інвестиція в скамерські проєкти</a:t>
                      </a:r>
                      <a:endParaRPr lang="uk-UA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Шахрайські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токени</a:t>
                      </a:r>
                      <a:r>
                        <a:rPr lang="ru-RU" sz="1400" dirty="0"/>
                        <a:t> з </a:t>
                      </a:r>
                      <a:r>
                        <a:rPr lang="ru-RU" sz="1400" dirty="0" err="1"/>
                        <a:t>фальшивими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обіцянками</a:t>
                      </a:r>
                      <a:endParaRPr lang="ru-RU" sz="1400" dirty="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"Pump and dump", rug pull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576999"/>
                  </a:ext>
                </a:extLst>
              </a:tr>
              <a:tr h="750818">
                <a:tc>
                  <a:txBody>
                    <a:bodyPr/>
                    <a:lstStyle/>
                    <a:p>
                      <a:r>
                        <a:rPr lang="uk-UA" sz="1400" b="1"/>
                        <a:t>Фішингові атаки</a:t>
                      </a:r>
                      <a:endParaRPr lang="uk-UA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Підробні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сайти</a:t>
                      </a:r>
                      <a:r>
                        <a:rPr lang="ru-RU" sz="1400" dirty="0"/>
                        <a:t> і </a:t>
                      </a:r>
                      <a:r>
                        <a:rPr lang="ru-RU" sz="1400" dirty="0" err="1"/>
                        <a:t>листи</a:t>
                      </a:r>
                      <a:r>
                        <a:rPr lang="ru-RU" sz="1400" dirty="0"/>
                        <a:t> для </a:t>
                      </a:r>
                      <a:r>
                        <a:rPr lang="ru-RU" sz="1400" dirty="0" err="1"/>
                        <a:t>крадіжки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приватних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ключів</a:t>
                      </a:r>
                      <a:endParaRPr lang="ru-RU" sz="1400" dirty="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MetaMask login scam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873718"/>
                  </a:ext>
                </a:extLst>
              </a:tr>
              <a:tr h="750818">
                <a:tc>
                  <a:txBody>
                    <a:bodyPr/>
                    <a:lstStyle/>
                    <a:p>
                      <a:r>
                        <a:rPr lang="uk-UA" sz="1400" b="1"/>
                        <a:t>Ігнорування комісій</a:t>
                      </a:r>
                      <a:endParaRPr lang="uk-UA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Транзакції можуть коштувати $50+ в момент навантаження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Особливо в </a:t>
                      </a:r>
                      <a:r>
                        <a:rPr lang="en-US" sz="1400"/>
                        <a:t>Ethereum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963629"/>
                  </a:ext>
                </a:extLst>
              </a:tr>
              <a:tr h="750818">
                <a:tc>
                  <a:txBody>
                    <a:bodyPr/>
                    <a:lstStyle/>
                    <a:p>
                      <a:r>
                        <a:rPr lang="uk-UA" sz="1400" b="1"/>
                        <a:t>Продаж у паніці</a:t>
                      </a:r>
                      <a:endParaRPr lang="uk-UA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Нерозуміння </a:t>
                      </a:r>
                      <a:r>
                        <a:rPr lang="uk-UA" sz="1400" dirty="0" err="1"/>
                        <a:t>волатильності</a:t>
                      </a:r>
                      <a:r>
                        <a:rPr lang="uk-UA" sz="1400" dirty="0"/>
                        <a:t> → збитки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Продав BTC при падінні до $20k, потім він зріс до $60k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79598"/>
                  </a:ext>
                </a:extLst>
              </a:tr>
              <a:tr h="750818">
                <a:tc>
                  <a:txBody>
                    <a:bodyPr/>
                    <a:lstStyle/>
                    <a:p>
                      <a:r>
                        <a:rPr lang="uk-UA" sz="1400" b="1"/>
                        <a:t>Невикористання 2</a:t>
                      </a:r>
                      <a:r>
                        <a:rPr lang="en-US" sz="1400" b="1"/>
                        <a:t>FA</a:t>
                      </a:r>
                      <a:endParaRPr lang="en-US" sz="140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Без </a:t>
                      </a:r>
                      <a:r>
                        <a:rPr lang="ru-RU" sz="1400" dirty="0" err="1"/>
                        <a:t>додаткового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захисту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зловмисник</a:t>
                      </a:r>
                      <a:r>
                        <a:rPr lang="ru-RU" sz="1400" dirty="0"/>
                        <a:t> легко </a:t>
                      </a:r>
                      <a:r>
                        <a:rPr lang="ru-RU" sz="1400" dirty="0" err="1"/>
                        <a:t>зламає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акаунт</a:t>
                      </a:r>
                      <a:endParaRPr lang="ru-RU" sz="1400" dirty="0"/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Злам акаунтів на біржах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139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526681"/>
      </p:ext>
    </p:extLst>
  </p:cSld>
  <p:clrMapOvr>
    <a:masterClrMapping/>
  </p:clrMapOvr>
</p:sld>
</file>

<file path=ppt/theme/theme1.xml><?xml version="1.0" encoding="utf-8"?>
<a:theme xmlns:a="http://schemas.openxmlformats.org/drawingml/2006/main" name="Віхоть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1532</TotalTime>
  <Words>1271</Words>
  <Application>Microsoft Office PowerPoint</Application>
  <PresentationFormat>Широкий екран</PresentationFormat>
  <Paragraphs>189</Paragraphs>
  <Slides>17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Віхоть</vt:lpstr>
      <vt:lpstr>Модуль 1. Web 3.0: Фундаментальні концепції, філософія, ідеологія, архітектура</vt:lpstr>
      <vt:lpstr>1.1.Фундаментальні концепції та будівельні блоки Web 3.0</vt:lpstr>
      <vt:lpstr>1.2. Філософія Web 3.0</vt:lpstr>
      <vt:lpstr>1.3. Ідеологія Web 3.0</vt:lpstr>
      <vt:lpstr>1.4. Архітектура Web 3.0</vt:lpstr>
      <vt:lpstr>1.5. Патерни Web 3.0</vt:lpstr>
      <vt:lpstr>2.1. Децентралізація</vt:lpstr>
      <vt:lpstr>2.2. Блокчейн</vt:lpstr>
      <vt:lpstr>2.3. Криптовалюта</vt:lpstr>
      <vt:lpstr>2.4. NFT (Non-Fungible Token)</vt:lpstr>
      <vt:lpstr>2.5. DeFi (Decentralized Finance)</vt:lpstr>
      <vt:lpstr>2.6. dApp (Decentralized Application)</vt:lpstr>
      <vt:lpstr>2.7. DAO (Decentralized Autonomous Organization)</vt:lpstr>
      <vt:lpstr>2.8. Висновки</vt:lpstr>
      <vt:lpstr>3.1. Види криптовалют</vt:lpstr>
      <vt:lpstr>3.2. Найкращі практики для роботи з криптовалютою</vt:lpstr>
      <vt:lpstr>3.3. Типові помилки під час роботи з криптовалютою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1. Web 3.0: Фундаментальні концепції, філософія, ідеологія, архітектура</dc:title>
  <dc:creator>hp</dc:creator>
  <cp:lastModifiedBy>novak</cp:lastModifiedBy>
  <cp:revision>33</cp:revision>
  <dcterms:created xsi:type="dcterms:W3CDTF">2025-06-18T07:11:42Z</dcterms:created>
  <dcterms:modified xsi:type="dcterms:W3CDTF">2025-07-15T13:48:34Z</dcterms:modified>
</cp:coreProperties>
</file>